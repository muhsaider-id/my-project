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definisikan AI agent sebagai 'pekerja digital' yang menjalankan tugas, bukan sekadar chatbot yang menjawab pertanyaan.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urutan logis: pahami dulu konsepnya, baru implementasi, baru tata kelola risiko, baru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Analogi: chatbot = resepsionis yang menjawab; agent = staf yang diberi brief, lalu mengerjakan sampai selesai.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 prosesnya bisa dideskripsikan dalam if-then, RPA cukup. Agent mulai unggul saat ada banyak kemungkinan jalur dan sumber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langkah REFLECT: di situlah letak kualitas. Tanpa evaluasi, agent hanya menebak.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Kesalahan umum: hanya menyiapkan model, lalu lupa memory, guardrail, dan monitoring. Agent mentah tanpa ini sulit dipercaya.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Saran: mulai dari use case dengan 'biaya salah rendah' seperti drafting, ringkasan, dan klasifikasi.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Minta peserta memilih satu fungsi mereka sendiri sambil melihat slide ini — biarkan konteksnya relevan.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Enam langkah ini dijabarkan pada slide berikutnya satu per satu.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1 dari 6 - Pilih Use Case yang Berdampak. Pokok pembahasan: Kriteria pemilihan. Panel gelap di kanan bisa dijadikan checklist implementasi. Tips penyampaian: Mulai dari satu use case yang paling menyakitkan, bukan yang paling keren.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2 dari 6 - Petakan Proses &amp; Siapkan Data. Pokok pembahasan: Checklist data. Panel gelap di kanan bisa dijadikan checklist implementasi. Tips penyampaian: Sering kali 60% pekerjaan implementasi ada di sini — bukan di model AI-nya.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3 dari 6 - Desain Prompt &amp; Guardrail. Pokok pembahasan: Guardrail wajib. Panel gelap di kanan bisa dijadikan checklist implementasi. Tips penyampaian: Uji prompt dengan kasus terburuk (edge case), bukan hanya contoh yang mudah.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4 dari 6 - Integrasi dengan Tools &amp; Sistem. Pokok pembahasan: Contoh tools. Panel gelap di kanan bisa dijadikan checklist implementasi. Tips penyampaian: Pisahkan akses baca dan tulis. Perubahan izin = perubahan risiko.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5 dari 6 - Uji, Evaluasi &amp; Ukur. Pokok pembahasan: Metrik utama. Panel gelap di kanan bisa dijadikan checklist implementasi. Tips penyampaian: Tetapkan angka baseline dulu sebelum menargetkan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Langkah 6 dari 6 - Deploy, Monitor &amp; Iterasi. Pokok pembahasan: Ritme perawatan. Panel gelap di kanan bisa dijadikan checklist implementasi. Tips penyampaian: Jadwalkan pembaruan knowledge base — konteks yang basi adalah penyebab umum kegagalan.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Tidak ada tool 'terbaik' universal — yang cocok bergantung pada tumpukan teknologi dan tingkat kontrol keamanan yang dibutuhkan.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Saran: 80% use case kantor cukup dengan ReAct + RAG +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 7 dan 8 sering dilupakan: kontrol akses dan kesiapan 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Bahaskan minimal tiga risiko paling relevan untuk konteks organisasi 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 sukses: manusia tetap menyetujui sebelum laporan dikirim, dan ada metrik pemakaian yang dicatat tiap pekan.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Sesuaikan target dengan kapasitas tim — lebih baik tuntas tiga langkah daripada setengah jalan sepuluh langkah.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komitmen konkret: satu use case, dua minggu, satu metrik.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sesi diskusi; kumpulkan ide use case peserta di papan.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2286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8120" y="822960"/>
            <a:ext cx="3749039" cy="5212080"/>
          </a:xfrm>
          <a:prstGeom prst="roundRect">
            <a:avLst>
              <a:gd name="adj" fmla="val 5000"/>
            </a:avLst>
          </a:prstGeom>
          <a:solidFill>
            <a:srgbClr val="18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83879" y="1234440"/>
            <a:ext cx="3017520" cy="822960"/>
          </a:xfrm>
          <a:prstGeom prst="roundRect">
            <a:avLst>
              <a:gd name="adj" fmla="val 16000"/>
            </a:avLst>
          </a:prstGeom>
          <a:solidFill>
            <a:srgbClr val="22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2240280"/>
            <a:ext cx="2194560" cy="45720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79" y="2834640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3346704"/>
            <a:ext cx="2651760" cy="384048"/>
          </a:xfrm>
          <a:prstGeom prst="roundRect">
            <a:avLst>
              <a:gd name="adj" fmla="val 30000"/>
            </a:avLst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83879" y="3977639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2519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0" y="5303520"/>
            <a:ext cx="1508760" cy="384048"/>
          </a:xfrm>
          <a:prstGeom prst="roundRect">
            <a:avLst>
              <a:gd name="adj" fmla="val 30000"/>
            </a:avLst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417320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PANDUAN PRAKTIS  •  PRODUCTIVITY 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6675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Cara Menggunakan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59E0B"/>
                </a:solidFill>
                <a:latin typeface="Calibri"/>
              </a:rPr>
              <a:t>AI Agent</a:t>
            </a:r>
            <a:r>
              <a:rPr sz="4400" b="1" i="0">
                <a:solidFill>
                  <a:srgbClr val="FFFFFF"/>
                </a:solidFill>
                <a:latin typeface="Calibri"/>
              </a:rPr>
              <a:t> untuk Pekerjaan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86200"/>
            <a:ext cx="146304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2D6"/>
                </a:solidFill>
                <a:latin typeface="Calibri"/>
              </a:rPr>
              <a:t>Bagaimana memakai agen AI untuk mengotomasi tugas, mempercepat pengambilan keputusan, dan menaikkan produktivitas tim — dari memilih use case hingga monitoring dan skalasi.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623560"/>
            <a:ext cx="3566160" cy="12801"/>
          </a:xfrm>
          <a:prstGeom prst="rect">
            <a:avLst/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Calibri"/>
              </a:rPr>
              <a:t>2026  •  Deck internal untuk tim &amp; pimpinan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Apa yang Akan Kita Bahas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Alur dari konsep → implementasi → tata kelola → rencana aksi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" y="200253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05740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96596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Apa itu AI Agent &amp; cara kerjanya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78308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8183" y="200253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205740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196596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Perbandingan dengan chatbot &amp; otomasi biasa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8036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" y="3099815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154679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Kapan layak dipakai + use case per fungsi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288036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8183" y="3099815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8183" y="3154679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407" y="306324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6 langkah implementasi end-to-end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5256" y="419709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251959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16052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Tools, framework &amp; pola desain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77639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8183" y="419709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8183" y="4251959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7407" y="416052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Best practice, risiko &amp; mitigasi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07492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5256" y="529437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34924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25780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Studi kasus: laporan mingguan otomatis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78727" y="5074920"/>
            <a:ext cx="5227167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98183" y="5294376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8183" y="534924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7407" y="5257800"/>
            <a:ext cx="412988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Roadmap 30-60-90 hari &amp; langkah berikutnya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KONSEP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Apa Itu AI Agent?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Sistem yang mengejar sebuah tujuan secara mandiri: merencanakan, memanggil tools, lalu evaluasi hasilnya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0820095" cy="1170432"/>
          </a:xfrm>
          <a:prstGeom prst="roundRect">
            <a:avLst>
              <a:gd name="adj" fmla="val 9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783080"/>
            <a:ext cx="82296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84248"/>
            <a:ext cx="99971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6B6D4"/>
                </a:solidFill>
                <a:latin typeface="Calibri"/>
              </a:rPr>
              <a:t>“</a:t>
            </a:r>
            <a:r>
              <a:rPr sz="1700" b="0" i="0">
                <a:solidFill>
                  <a:srgbClr val="D5DCEC"/>
                </a:solidFill>
                <a:latin typeface="Calibri"/>
              </a:rPr>
              <a:t>Diberi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tujuan</a:t>
            </a:r>
            <a:r>
              <a:rPr sz="1700" b="0" i="0">
                <a:solidFill>
                  <a:srgbClr val="D5DCEC"/>
                </a:solidFill>
                <a:latin typeface="Calibri"/>
              </a:rPr>
              <a:t>, bukan sekadar perintah — agent memecah tugas, mengambil tindakan dengan tools, membaca hasilnya, lalu memperbaiki diri sampai target tercapai.</a:t>
            </a:r>
            <a:r>
              <a:rPr sz="1700" b="0" i="0">
                <a:solidFill>
                  <a:srgbClr val="06B6D4"/>
                </a:solidFill>
                <a:latin typeface="Calibri"/>
              </a:rPr>
              <a:t>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LIMA CIRI UTAMA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9584"/>
            <a:ext cx="2003084" cy="16002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749039"/>
            <a:ext cx="15275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Goal-oriented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" y="4059935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242816"/>
            <a:ext cx="152759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Fokus pada hasil akhir, bukan satu giliran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0052" y="3529584"/>
            <a:ext cx="2003084" cy="16002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796" y="3749039"/>
            <a:ext cx="15275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Autonomous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796" y="4059935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796" y="4242816"/>
            <a:ext cx="152759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Menjalankan banyak langkah tanpa diawasi terus-menerus.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4305" y="3529584"/>
            <a:ext cx="2003084" cy="16002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2049" y="3749039"/>
            <a:ext cx="15275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Tool-using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2049" y="4059935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2049" y="4242816"/>
            <a:ext cx="152759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Akses API, database, browser, file, dan code.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8557" y="3529584"/>
            <a:ext cx="2003084" cy="16002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6301" y="3749039"/>
            <a:ext cx="15275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Feedback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36301" y="4059935"/>
            <a:ext cx="420624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6301" y="4242816"/>
            <a:ext cx="152759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Menilai output sendiri dan mengulang bila perlu.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2810" y="3529584"/>
            <a:ext cx="2003084" cy="16002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0554" y="3749039"/>
            <a:ext cx="15275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Memory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40554" y="4059935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0554" y="4242816"/>
            <a:ext cx="1527596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Mengingat konteks, riwayat, dan pengetahuan perusahaan.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1266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67085"/>
                </a:solidFill>
                <a:latin typeface="Calibri"/>
              </a:rPr>
              <a:t>Ringkasnya: model AI adalah otaknya, agent-lah yang memberinya tangan, ingatan, dan prosedur kerja.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PERBANDINGAN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AI Agent vs Chatbot vs Otomasi Biasa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Tiga pendekatan berbeda — pilih sesuai kompleksitas pekerjaan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783080"/>
          <a:ext cx="10817352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2788920"/>
                <a:gridCol w="2788920"/>
                <a:gridCol w="277063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Chatbot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Otomasi / RPA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AI Agent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Pertanyaan pengguna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Trigger &amp; aturan tetap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Tujuan / brief terbuka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Langkah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Satu giliran (Q&amp;A)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Alur sudah dipetakan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Merencanakan multi-langkah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Fleksibilitas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Rendah–sedang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Rendah (if-then)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Tinggi, adaptif pada konteks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Pemakaian tools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Tidak / terbatas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Ya, sesuai skrip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Ya, memilih tools sendiri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Menangani kasus baru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Serba salah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Gagal / perlu kode baru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Bisa menyusun pendekatan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Butuh intervensi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Setiap giliran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Saat exception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Saat melewati batas aman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Cocok untuk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FAQ &amp; dukungan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Proses berulang &amp; terstruktur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Pekerjaan butuh penalaran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5276088"/>
            <a:ext cx="10820095" cy="658368"/>
          </a:xfrm>
          <a:prstGeom prst="roundRect">
            <a:avLst>
              <a:gd name="adj" fmla="val 14000"/>
            </a:avLst>
          </a:prstGeom>
          <a:solidFill>
            <a:srgbClr val="ECEEFC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67528"/>
            <a:ext cx="1027145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Kesimpulan:  </a:t>
            </a:r>
            <a:r>
              <a:rPr sz="1300" b="0" i="0">
                <a:solidFill>
                  <a:srgbClr val="333D51"/>
                </a:solidFill>
                <a:latin typeface="Calibri"/>
              </a:rPr>
              <a:t>AI Agent = otak (LLM) + tangan (tools) + ingatan (memory) + prosedur (guardrail). Gunakan chatbot untuk tanya-jawab, RPA untuk alur kaku, agent untuk pekerjaan yang butuh penalaran dan adaptasi.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CARA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Siklus Kerja Sebuah 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Loop yang berulang: rencana → tindakan → hasil → evaluasi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944563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1944563" cy="8229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07568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12140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51760"/>
            <a:ext cx="15056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Calibri"/>
              </a:rPr>
              <a:t>PERCEIVE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971800"/>
            <a:ext cx="1505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Baca input, konteks, dan data dari sumber terhubung.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7795" y="265176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4683" y="1783080"/>
            <a:ext cx="1944563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04683" y="1783080"/>
            <a:ext cx="1944563" cy="82296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24139" y="2075688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4139" y="212140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4139" y="2651760"/>
            <a:ext cx="15056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4139" y="2971800"/>
            <a:ext cx="1505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Pecah tujuan menjadi sub-tugas dan urutan langkah.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678" y="265176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3566" y="1783080"/>
            <a:ext cx="1944563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3566" y="1783080"/>
            <a:ext cx="1944563" cy="82296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43022" y="207568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3022" y="212140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3022" y="2651760"/>
            <a:ext cx="15056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3022" y="2971800"/>
            <a:ext cx="1505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Panggil tools: API, database, email, browser, 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5561" y="265176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2449" y="1783080"/>
            <a:ext cx="1944563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42449" y="1783080"/>
            <a:ext cx="1944563" cy="8229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61905" y="207568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1905" y="212140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1905" y="2651760"/>
            <a:ext cx="15056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OBSERVE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1905" y="2971800"/>
            <a:ext cx="1505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Baca hasil eksekusi dan error yang muncul.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4444" y="265176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61332" y="1783080"/>
            <a:ext cx="1944563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61332" y="1783080"/>
            <a:ext cx="1944563" cy="82296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80788" y="2075688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0788" y="212140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0788" y="2651760"/>
            <a:ext cx="15056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F4444"/>
                </a:solidFill>
                <a:latin typeface="Calibri"/>
              </a:rPr>
              <a:t>REFLECT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0788" y="2971800"/>
            <a:ext cx="1505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Bandingkan dengan kriteria; iterasi bila belum sesuai.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206240"/>
            <a:ext cx="5250027" cy="13716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" y="4425696"/>
            <a:ext cx="4774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726"/>
                </a:solidFill>
                <a:latin typeface="Calibri"/>
              </a:rPr>
              <a:t>Memory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" y="473659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4919472"/>
            <a:ext cx="4774539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Menyimpan riwayat percakapan, keputusan, dan pengetahuan perusahaan agar agent tidak mulai dari nol.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5867" y="4206240"/>
            <a:ext cx="5250027" cy="13716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3611" y="4425696"/>
            <a:ext cx="47745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726"/>
                </a:solidFill>
                <a:latin typeface="Calibri"/>
              </a:rPr>
              <a:t>Guardrail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3611" y="4736592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3611" y="4919472"/>
            <a:ext cx="4774539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Aturan batas: data apa yang boleh diakses, aksi mana yang butuh persetujuan manusia, format output yang valid.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742431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67085"/>
                </a:solidFill>
                <a:latin typeface="Calibri"/>
              </a:rPr>
              <a:t>Loop inilah yang membuat agent mengerjakan tugas sampai selesai — bukan berhenti setelah satu jawaban.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ARSITEKTUR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Komponen Sistem 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Lima lapisan yang harus disiapkan sebelum agent diproduksi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0820095" cy="804672"/>
          </a:xfrm>
          <a:prstGeom prst="roundRect">
            <a:avLst>
              <a:gd name="adj" fmla="val 11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73152" cy="8046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" y="200253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039112"/>
            <a:ext cx="4023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92938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Model (LLM)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9384"/>
            <a:ext cx="6705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4E63"/>
                </a:solidFill>
                <a:latin typeface="Calibri"/>
              </a:rPr>
              <a:t>Otak penalaran. Pilih berdasarkan kemampuan reasoning, konteks, biaya, dan privasi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06624"/>
            <a:ext cx="10820095" cy="804672"/>
          </a:xfrm>
          <a:prstGeom prst="roundRect">
            <a:avLst>
              <a:gd name="adj" fmla="val 11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2706624"/>
            <a:ext cx="73152" cy="80467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6696" y="29260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2962656"/>
            <a:ext cx="4023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85292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Tools &amp;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52928"/>
            <a:ext cx="6705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4E63"/>
                </a:solidFill>
                <a:latin typeface="Calibri"/>
              </a:rPr>
              <a:t>Tangan digital: Gmail, Slack, Notion, Jira, CRM, database, browser, code runner.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30168"/>
            <a:ext cx="10820095" cy="804672"/>
          </a:xfrm>
          <a:prstGeom prst="roundRect">
            <a:avLst>
              <a:gd name="adj" fmla="val 11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630168"/>
            <a:ext cx="73152" cy="8046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" y="384962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3886200"/>
            <a:ext cx="4023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77647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76472"/>
            <a:ext cx="6705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4E63"/>
                </a:solidFill>
                <a:latin typeface="Calibri"/>
              </a:rPr>
              <a:t>Konteks jangka pendek + pengetahuan jangka panjang (knowledge base / RAG).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53712"/>
            <a:ext cx="10820095" cy="804672"/>
          </a:xfrm>
          <a:prstGeom prst="roundRect">
            <a:avLst>
              <a:gd name="adj" fmla="val 11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553712"/>
            <a:ext cx="73152" cy="8046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6" y="477316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" y="4809744"/>
            <a:ext cx="4023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70001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700016"/>
            <a:ext cx="6705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4E63"/>
                </a:solidFill>
                <a:latin typeface="Calibri"/>
              </a:rPr>
              <a:t>Pengatur alur: satu agent atau banyak agent bertugas (router → spesialis).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477256"/>
            <a:ext cx="10820095" cy="804672"/>
          </a:xfrm>
          <a:prstGeom prst="roundRect">
            <a:avLst>
              <a:gd name="adj" fmla="val 11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5477256"/>
            <a:ext cx="73152" cy="8046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6696" y="569671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" y="5733288"/>
            <a:ext cx="4023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6235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726"/>
                </a:solidFill>
                <a:latin typeface="Calibri"/>
              </a:rPr>
              <a:t>Guardrail &amp;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623560"/>
            <a:ext cx="6705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4E63"/>
                </a:solidFill>
                <a:latin typeface="Calibri"/>
              </a:rPr>
              <a:t>Validasi output, kontrol akses, log, metrik, dan peringatan bila menyimpang.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KELAYAKAN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Kapan AI Agent Layak Dipakai?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Uji cepat sebelum berinvestasi: cocokkan dengan profil pekerjaan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50027" cy="2606040"/>
          </a:xfrm>
          <a:prstGeom prst="roundRect">
            <a:avLst>
              <a:gd name="adj" fmla="val 7000"/>
            </a:avLst>
          </a:prstGeom>
          <a:solidFill>
            <a:srgbClr val="ECFBF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4701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✓  COCOK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86584"/>
            <a:ext cx="47013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Tugas </a:t>
            </a:r>
            <a:r>
              <a:rPr sz="1250" b="1">
                <a:solidFill>
                  <a:srgbClr val="0E1726"/>
                </a:solidFill>
                <a:latin typeface="Calibri"/>
              </a:rPr>
              <a:t>berulang</a:t>
            </a:r>
            <a:r>
              <a:rPr sz="1250" b="0">
                <a:solidFill>
                  <a:srgbClr val="333D51"/>
                </a:solidFill>
                <a:latin typeface="Calibri"/>
              </a:rPr>
              <a:t> harian/mingguan dengan volume tinggi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Melibatkan </a:t>
            </a:r>
            <a:r>
              <a:rPr sz="1250" b="1">
                <a:solidFill>
                  <a:srgbClr val="0E1726"/>
                </a:solidFill>
                <a:latin typeface="Calibri"/>
              </a:rPr>
              <a:t>banyak sumber data</a:t>
            </a:r>
            <a:r>
              <a:rPr sz="1250" b="0">
                <a:solidFill>
                  <a:srgbClr val="333D51"/>
                </a:solidFill>
                <a:latin typeface="Calibri"/>
              </a:rPr>
              <a:t> (file, API, chat, database)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Aturan mainnya bisa </a:t>
            </a:r>
            <a:r>
              <a:rPr sz="1250" b="1">
                <a:solidFill>
                  <a:srgbClr val="0E1726"/>
                </a:solidFill>
                <a:latin typeface="Calibri"/>
              </a:rPr>
              <a:t>didokumentasikan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Ada cara </a:t>
            </a:r>
            <a:r>
              <a:rPr sz="1250" b="1">
                <a:solidFill>
                  <a:srgbClr val="0E1726"/>
                </a:solidFill>
                <a:latin typeface="Calibri"/>
              </a:rPr>
              <a:t>mengukur</a:t>
            </a:r>
            <a:r>
              <a:rPr sz="1250" b="0">
                <a:solidFill>
                  <a:srgbClr val="333D51"/>
                </a:solidFill>
                <a:latin typeface="Calibri"/>
              </a:rPr>
              <a:t> benar atau salahnya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Biaya kalau salah masih </a:t>
            </a:r>
            <a:r>
              <a:rPr sz="1250" b="1">
                <a:solidFill>
                  <a:srgbClr val="0E1726"/>
                </a:solidFill>
                <a:latin typeface="Calibri"/>
              </a:rPr>
              <a:t>bisa ditoleransi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783080"/>
            <a:ext cx="5250027" cy="260604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2002536"/>
            <a:ext cx="4701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F4444"/>
                </a:solidFill>
                <a:latin typeface="Calibri"/>
              </a:rPr>
              <a:t>✕  BELUM COCOK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386584"/>
            <a:ext cx="47013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Keputusan </a:t>
            </a:r>
            <a:r>
              <a:rPr sz="1250" b="1">
                <a:solidFill>
                  <a:srgbClr val="0E1726"/>
                </a:solidFill>
                <a:latin typeface="Calibri"/>
              </a:rPr>
              <a:t>kritis</a:t>
            </a:r>
            <a:r>
              <a:rPr sz="1250" b="0">
                <a:solidFill>
                  <a:srgbClr val="333D51"/>
                </a:solidFill>
                <a:latin typeface="Calibri"/>
              </a:rPr>
              <a:t> tanpa pengawasan manusia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Data </a:t>
            </a:r>
            <a:r>
              <a:rPr sz="1250" b="1">
                <a:solidFill>
                  <a:srgbClr val="0E1726"/>
                </a:solidFill>
                <a:latin typeface="Calibri"/>
              </a:rPr>
              <a:t>sangat sensitif</a:t>
            </a:r>
            <a:r>
              <a:rPr sz="1250" b="0">
                <a:solidFill>
                  <a:srgbClr val="333D51"/>
                </a:solidFill>
                <a:latin typeface="Calibri"/>
              </a:rPr>
              <a:t> tanpa kontrol akses yang jelas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Proses </a:t>
            </a:r>
            <a:r>
              <a:rPr sz="1250" b="1">
                <a:solidFill>
                  <a:srgbClr val="0E1726"/>
                </a:solidFill>
                <a:latin typeface="Calibri"/>
              </a:rPr>
              <a:t>belum stabil</a:t>
            </a:r>
            <a:r>
              <a:rPr sz="1250" b="0">
                <a:solidFill>
                  <a:srgbClr val="333D51"/>
                </a:solidFill>
                <a:latin typeface="Calibri"/>
              </a:rPr>
              <a:t> / belum pernah dipetakan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Hasilnya </a:t>
            </a:r>
            <a:r>
              <a:rPr sz="1250" b="1">
                <a:solidFill>
                  <a:srgbClr val="0E1726"/>
                </a:solidFill>
                <a:latin typeface="Calibri"/>
              </a:rPr>
              <a:t>subyektif</a:t>
            </a:r>
            <a:r>
              <a:rPr sz="1250" b="0">
                <a:solidFill>
                  <a:srgbClr val="333D51"/>
                </a:solidFill>
                <a:latin typeface="Calibri"/>
              </a:rPr>
              <a:t> dan tidak bisa dievaluasi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Satu kesalahan berdampak </a:t>
            </a:r>
            <a:r>
              <a:rPr sz="1250" b="1">
                <a:solidFill>
                  <a:srgbClr val="0E1726"/>
                </a:solidFill>
                <a:latin typeface="Calibri"/>
              </a:rPr>
              <a:t>hukum atau finansial besar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TIGA PERTANYAAN SEBELUM MULAI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37759"/>
            <a:ext cx="3454298" cy="13716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5157216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Bisa ditulis langkahnya?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" y="546811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650992"/>
            <a:ext cx="2978810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Jika alur kerjanya belum bisa dijelaskan ke orang baru, agent juga tidak akan bisa.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8698" y="4937759"/>
            <a:ext cx="3454298" cy="13716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442" y="5157216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Ada sumber data yang jelas?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6442" y="546811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6442" y="5650992"/>
            <a:ext cx="2978810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Agent hanya sebaik data dan akses yang diberikan padanya.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1596" y="4937759"/>
            <a:ext cx="3454298" cy="137160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9340" y="5157216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Ada cara mengukur berhasil?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9340" y="546811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9340" y="5650992"/>
            <a:ext cx="2978810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Tanpa baseline &amp; metrik, kita tidak tahu apakah ini benar-benar membantu.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PENERAPAN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Contoh Pekerjaan per Fungsi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Dari pekerjaan berulang menjadi hasil terukur dalam hitungan menit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" y="231343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96312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Riset kata kunci &amp; pesaing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Draf konten multi-kanal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Laporan performa kampanye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3938" y="1783080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1682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1682" y="2313432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1682" y="2496312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Enrichment &amp; skoring lead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Personalisasi email tindak lanjut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Ringkasan hasil panggilan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2076" y="1783080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9820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HR / People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19820" y="2313432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9820" y="2496312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Screening awal CV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Alur onboarding otomatis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FAQ kebijakan perusahaan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58768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078224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Finance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" y="4389120"/>
            <a:ext cx="420624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4572000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Rekonsiliasi transaksi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Deteksi anomali &amp; flag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Draf laporan berkala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3938" y="3858768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1682" y="4078224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IT / Engineering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1682" y="4389120"/>
            <a:ext cx="420624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1682" y="4572000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Triage insiden &amp; tiket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Code review &amp; dokumentasi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Pembaruan status teknis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2076" y="3858768"/>
            <a:ext cx="3423818" cy="1874519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9820" y="4078224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Operations &amp; CX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19820" y="4389120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9820" y="4572000"/>
            <a:ext cx="2948330" cy="996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Klasifikasi tiket masuk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Jawaban tier-1 24/7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QC dokumen &amp; invoice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870448"/>
            <a:ext cx="10820095" cy="45720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907024"/>
            <a:ext cx="102714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F46E5"/>
                </a:solidFill>
                <a:latin typeface="Calibri"/>
              </a:rPr>
              <a:t>Aturan praktis:  </a:t>
            </a:r>
            <a:r>
              <a:rPr sz="1250" b="0" i="0">
                <a:solidFill>
                  <a:srgbClr val="333D51"/>
                </a:solidFill>
                <a:latin typeface="Calibri"/>
              </a:rPr>
              <a:t>mulai dari pekerjaan yang menghabiskan waktu, bukan yang menghasilkan keputusan. Hemat waktu dulu, otonomi belakangan.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KERANGKA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6 Langkah Implementasi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Urutan yang terbukti aman dan cepat menghasilkan nilai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" y="20025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03911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203911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Pilih use case berdampak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49631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Prioritaskan dampak × kemudahan; mulai dari quick win.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3938" y="178308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21682" y="20025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1682" y="203911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3746" y="203911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Petakan proses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1682" y="249631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Alur as-is, sumber data, pemilik data, dan pengetahuan yang dibutuhkan.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2076" y="178308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9820" y="20025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9820" y="203911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1884" y="203911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Desain prompt &amp; guardrail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9820" y="249631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Struktur instruksi, format output, batasan, dan titik persetujuan manusia.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" y="43799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41655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41655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Integrasi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87375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Sambungkan sistem; mulai read-only, lalu write dengan approval.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3938" y="416052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1682" y="43799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1682" y="441655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3746" y="441655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Uji &amp; ukur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1682" y="487375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Golden dataset, evaluasi otomatis, bandingkan dengan baseline.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2076" y="4160520"/>
            <a:ext cx="3423818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19820" y="43799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9820" y="4416552"/>
            <a:ext cx="3840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1884" y="4416552"/>
            <a:ext cx="243626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Deploy, monitor, iterasi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9820" y="4873752"/>
            <a:ext cx="2948330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Pilot → bertahap → penuh; dashboard, feedback, dan perbaikan rutin.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LANGKAH 1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Pilih Use Case yang Berdampak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Pekerjaan yang tepat membuat hasil cepat terlihat dan mudah mendapat dukungan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Petakan daftar tugas tim: </a:t>
            </a:r>
            <a:r>
              <a:rPr sz="1300" b="1">
                <a:solidFill>
                  <a:srgbClr val="0E1726"/>
                </a:solidFill>
                <a:latin typeface="Calibri"/>
              </a:rPr>
              <a:t>frekuensi × waktu × kesulitan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Pilih yang </a:t>
            </a:r>
            <a:r>
              <a:rPr sz="1300" b="1">
                <a:solidFill>
                  <a:srgbClr val="0E1726"/>
                </a:solidFill>
                <a:latin typeface="Calibri"/>
              </a:rPr>
              <a:t>berulang harian/mingguan</a:t>
            </a:r>
            <a:r>
              <a:rPr sz="1300" b="0">
                <a:solidFill>
                  <a:srgbClr val="333D51"/>
                </a:solidFill>
                <a:latin typeface="Calibri"/>
              </a:rPr>
              <a:t> dan berbasis data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Cari *quick win*: hasil terlihat dalam 2–4 minggu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Hindari menggantikan </a:t>
            </a:r>
            <a:r>
              <a:rPr sz="1300" b="1">
                <a:solidFill>
                  <a:srgbClr val="0E1726"/>
                </a:solidFill>
                <a:latin typeface="Calibri"/>
              </a:rPr>
              <a:t>seluruh proses</a:t>
            </a:r>
            <a:r>
              <a:rPr sz="1300" b="0">
                <a:solidFill>
                  <a:srgbClr val="333D51"/>
                </a:solidFill>
                <a:latin typeface="Calibri"/>
              </a:rPr>
              <a:t> sekaligus di awal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Pastikan ada </a:t>
            </a:r>
            <a:r>
              <a:rPr sz="1300" b="1">
                <a:solidFill>
                  <a:srgbClr val="0E1726"/>
                </a:solidFill>
                <a:latin typeface="Calibri"/>
              </a:rPr>
              <a:t>pemilik use case</a:t>
            </a:r>
            <a:r>
              <a:rPr sz="1300" b="0">
                <a:solidFill>
                  <a:srgbClr val="333D51"/>
                </a:solidFill>
                <a:latin typeface="Calibri"/>
              </a:rPr>
              <a:t> yang bertanggung jawab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KRITERIA PEMILIHAN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Volume tinggi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Langkah bisa didokumentasikan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Biaya per kesalahan rendah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Data tersedia &amp; legal diakses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Mudah diukur hasilnya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Mulai dari satu use case yang paling menyakitkan, bukan yang paling keren.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LANGKAH 2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Petakan Proses &amp; Siapkan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Agent hanya sebaik konteks dan data yang Anda berikan kepadanya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Tulis alur </a:t>
            </a:r>
            <a:r>
              <a:rPr sz="1300" b="1">
                <a:solidFill>
                  <a:srgbClr val="0E1726"/>
                </a:solidFill>
                <a:latin typeface="Calibri"/>
              </a:rPr>
              <a:t>as-is</a:t>
            </a:r>
            <a:r>
              <a:rPr sz="1300" b="0">
                <a:solidFill>
                  <a:srgbClr val="333D51"/>
                </a:solidFill>
                <a:latin typeface="Calibri"/>
              </a:rPr>
              <a:t> per langkah, termasuk pengecualian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Tandai setiap </a:t>
            </a:r>
            <a:r>
              <a:rPr sz="1300" b="1">
                <a:solidFill>
                  <a:srgbClr val="0E1726"/>
                </a:solidFill>
                <a:latin typeface="Calibri"/>
              </a:rPr>
              <a:t>input, keputusan, dan output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Inventaris sumber data: dokumen, DB, Slack, email, CRM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Bersihkan &amp; rapikan </a:t>
            </a:r>
            <a:r>
              <a:rPr sz="1300" b="1">
                <a:solidFill>
                  <a:srgbClr val="0E1726"/>
                </a:solidFill>
                <a:latin typeface="Calibri"/>
              </a:rPr>
              <a:t>knowledge base</a:t>
            </a:r>
            <a:r>
              <a:rPr sz="1300" b="0">
                <a:solidFill>
                  <a:srgbClr val="333D51"/>
                </a:solidFill>
                <a:latin typeface="Calibri"/>
              </a:rPr>
              <a:t> (dokumen usang = jawaban usang)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Tetapkan </a:t>
            </a:r>
            <a:r>
              <a:rPr sz="1300" b="1">
                <a:solidFill>
                  <a:srgbClr val="0E1726"/>
                </a:solidFill>
                <a:latin typeface="Calibri"/>
              </a:rPr>
              <a:t>data owner</a:t>
            </a:r>
            <a:r>
              <a:rPr sz="1300" b="0">
                <a:solidFill>
                  <a:srgbClr val="333D51"/>
                </a:solidFill>
                <a:latin typeface="Calibri"/>
              </a:rPr>
              <a:t> dan aturan akses per sumber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CHECKLIST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Format konsisten &amp; mudah dibaca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Pembaruan berkala terjadwal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Tidak ada data pribadi tanpa dasar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Versioning dokumen penting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Akses minimal, sesuai kebutuhan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Sering kali 60% pekerjaan implementasi ada di sini — bukan di model AI-nya.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LANGKAH 3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Desain Prompt &amp; Guardrail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Instruksi yang jelas dan batasan yang tegas adalah kualitas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Susun prompt dari 5 blok: </a:t>
            </a:r>
            <a:r>
              <a:rPr sz="1300" b="1">
                <a:solidFill>
                  <a:srgbClr val="0E1726"/>
                </a:solidFill>
                <a:latin typeface="Calibri"/>
              </a:rPr>
              <a:t>role → konteks → instruksi → format → batasan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Wajibkan </a:t>
            </a:r>
            <a:r>
              <a:rPr sz="1300" b="1">
                <a:solidFill>
                  <a:srgbClr val="0E1726"/>
                </a:solidFill>
                <a:latin typeface="Calibri"/>
              </a:rPr>
              <a:t>format output terstruktur</a:t>
            </a:r>
            <a:r>
              <a:rPr sz="1300" b="0">
                <a:solidFill>
                  <a:srgbClr val="333D51"/>
                </a:solidFill>
                <a:latin typeface="Calibri"/>
              </a:rPr>
              <a:t> (JSON/templat) agar bisa divalidasi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Tetapkan </a:t>
            </a:r>
            <a:r>
              <a:rPr sz="1300" b="1">
                <a:solidFill>
                  <a:srgbClr val="0E1726"/>
                </a:solidFill>
                <a:latin typeface="Calibri"/>
              </a:rPr>
              <a:t>ambang keyakinan</a:t>
            </a:r>
            <a:r>
              <a:rPr sz="1300" b="0">
                <a:solidFill>
                  <a:srgbClr val="333D51"/>
                </a:solidFill>
                <a:latin typeface="Calibri"/>
              </a:rPr>
              <a:t>: bila ragu, agent harus bertanya, bukan mengarang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Tandai aksi </a:t>
            </a:r>
            <a:r>
              <a:rPr sz="1300" b="1">
                <a:solidFill>
                  <a:srgbClr val="0E1726"/>
                </a:solidFill>
                <a:latin typeface="Calibri"/>
              </a:rPr>
              <a:t>berisiko</a:t>
            </a:r>
            <a:r>
              <a:rPr sz="1300" b="0">
                <a:solidFill>
                  <a:srgbClr val="333D51"/>
                </a:solidFill>
                <a:latin typeface="Calibri"/>
              </a:rPr>
              <a:t> yang butuh persetujuan manusia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Simpan prompt sebagai </a:t>
            </a:r>
            <a:r>
              <a:rPr sz="1300" b="1">
                <a:solidFill>
                  <a:srgbClr val="0E1726"/>
                </a:solidFill>
                <a:latin typeface="Calibri"/>
              </a:rPr>
              <a:t>aset berversi</a:t>
            </a:r>
            <a:r>
              <a:rPr sz="1300" b="0">
                <a:solidFill>
                  <a:srgbClr val="333D51"/>
                </a:solidFill>
                <a:latin typeface="Calibri"/>
              </a:rPr>
              <a:t>, bukan tulisan lepas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GUARDRAIL WAJIB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Read-only sebagai default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Approval manusia untuk aksi tulis/eksternal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Validasi skema output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Blokir akses di luar daftar sumber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Log prompt &amp; hasil untuk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Uji prompt dengan kasus terburuk (edge case), bukan hanya contoh yang mudah.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LANGKAH 4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Integrasi dengan Tools &amp; Sistem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Sambungkan agent ke tempat pekerjaan benar-benar terjadi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Mulai dengan </a:t>
            </a:r>
            <a:r>
              <a:rPr sz="1300" b="1">
                <a:solidFill>
                  <a:srgbClr val="0E1726"/>
                </a:solidFill>
                <a:latin typeface="Calibri"/>
              </a:rPr>
              <a:t>read-only</a:t>
            </a:r>
            <a:r>
              <a:rPr sz="1300" b="0">
                <a:solidFill>
                  <a:srgbClr val="333D51"/>
                </a:solidFill>
                <a:latin typeface="Calibri"/>
              </a:rPr>
              <a:t>: baca email, dokumen, laporan, tiket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Naikkan ke </a:t>
            </a:r>
            <a:r>
              <a:rPr sz="1300" b="1">
                <a:solidFill>
                  <a:srgbClr val="0E1726"/>
                </a:solidFill>
                <a:latin typeface="Calibri"/>
              </a:rPr>
              <a:t>write access</a:t>
            </a:r>
            <a:r>
              <a:rPr sz="1300" b="0">
                <a:solidFill>
                  <a:srgbClr val="333D51"/>
                </a:solidFill>
                <a:latin typeface="Calibri"/>
              </a:rPr>
              <a:t> bertahap, dengan persetujuan manusia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Pisahkan kredensial per fungsi — terapkan </a:t>
            </a:r>
            <a:r>
              <a:rPr sz="1300" b="1">
                <a:solidFill>
                  <a:srgbClr val="0E1726"/>
                </a:solidFill>
                <a:latin typeface="Calibri"/>
              </a:rPr>
              <a:t>least privilege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Catat setiap pemanggilan tool: siapa, kapan, apa, hasil apa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Siapkan </a:t>
            </a:r>
            <a:r>
              <a:rPr sz="1300" b="1">
                <a:solidFill>
                  <a:srgbClr val="0E1726"/>
                </a:solidFill>
                <a:latin typeface="Calibri"/>
              </a:rPr>
              <a:t>retry, timeout, dan idempotensi</a:t>
            </a:r>
            <a:r>
              <a:rPr sz="1300" b="0">
                <a:solidFill>
                  <a:srgbClr val="333D51"/>
                </a:solidFill>
                <a:latin typeface="Calibri"/>
              </a:rPr>
              <a:t> agar aman diulang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CONTOH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Komunikasi: Slack, Gmail, Meet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Dokumen: Notion, Drive, Confluence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Proyek: Jira, Linear, Asana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Data: Sheets, BigQuery, API internal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Browser &amp; code execution (terbatas)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Pisahkan akses baca dan tulis. Perubahan izin = perubahan risiko.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LANGKAH 5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Uji, Evaluasi &amp; Ukur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Tanpa baseline dan metrik, tidak ada cara membedakan membantu vs mengarang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4444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Kumpulkan </a:t>
            </a:r>
            <a:r>
              <a:rPr sz="1300" b="1">
                <a:solidFill>
                  <a:srgbClr val="0E1726"/>
                </a:solidFill>
                <a:latin typeface="Calibri"/>
              </a:rPr>
              <a:t>golden dataset</a:t>
            </a:r>
            <a:r>
              <a:rPr sz="1300" b="0">
                <a:solidFill>
                  <a:srgbClr val="333D51"/>
                </a:solidFill>
                <a:latin typeface="Calibri"/>
              </a:rPr>
              <a:t>: input beserta jawaban benar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Jalankan </a:t>
            </a:r>
            <a:r>
              <a:rPr sz="1300" b="1">
                <a:solidFill>
                  <a:srgbClr val="0E1726"/>
                </a:solidFill>
                <a:latin typeface="Calibri"/>
              </a:rPr>
              <a:t>evaluasi otomatis</a:t>
            </a:r>
            <a:r>
              <a:rPr sz="1300" b="0">
                <a:solidFill>
                  <a:srgbClr val="333D51"/>
                </a:solidFill>
                <a:latin typeface="Calibri"/>
              </a:rPr>
              <a:t> pada setiap perubahan prompt/model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Uji </a:t>
            </a:r>
            <a:r>
              <a:rPr sz="1300" b="1">
                <a:solidFill>
                  <a:srgbClr val="0E1726"/>
                </a:solidFill>
                <a:latin typeface="Calibri"/>
              </a:rPr>
              <a:t>regresi</a:t>
            </a:r>
            <a:r>
              <a:rPr sz="1300" b="0">
                <a:solidFill>
                  <a:srgbClr val="333D51"/>
                </a:solidFill>
                <a:latin typeface="Calibri"/>
              </a:rPr>
              <a:t> — perbaikan A boleh jadi merusak B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Bandingkan hasil agent vs cara kerja lama (</a:t>
            </a:r>
            <a:r>
              <a:rPr sz="1300" b="1">
                <a:solidFill>
                  <a:srgbClr val="0E1726"/>
                </a:solidFill>
                <a:latin typeface="Calibri"/>
              </a:rPr>
              <a:t>A/B</a:t>
            </a:r>
            <a:r>
              <a:rPr sz="1300" b="0">
                <a:solidFill>
                  <a:srgbClr val="333D51"/>
                </a:solidFill>
                <a:latin typeface="Calibri"/>
              </a:rPr>
              <a:t>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F4444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Ukur dari sisi </a:t>
            </a:r>
            <a:r>
              <a:rPr sz="1300" b="1">
                <a:solidFill>
                  <a:srgbClr val="0E1726"/>
                </a:solidFill>
                <a:latin typeface="Calibri"/>
              </a:rPr>
              <a:t>kualitas, waktu, dan biaya</a:t>
            </a:r>
            <a:r>
              <a:rPr sz="1300" b="0">
                <a:solidFill>
                  <a:srgbClr val="333D51"/>
                </a:solidFill>
                <a:latin typeface="Calibri"/>
              </a:rPr>
              <a:t> sekaligus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METRIK UTAMA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Task success rate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Akurasi / tingkat halusinasi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Waktu hemat per tugas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Biaya per tugas (token)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Tingkat eskalasi ke manusia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Tetapkan angka baseline dulu sebelum menargetkan improvement.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LANGKAH 6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Deploy, Monitor &amp; Iterasi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Agent bukan proyek sekali jalan — ia hidup dan perlu dirawat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6329755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6329755" cy="8229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057400"/>
            <a:ext cx="57445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YANG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386584"/>
            <a:ext cx="57445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Rilis bertahap: </a:t>
            </a:r>
            <a:r>
              <a:rPr sz="1300" b="1">
                <a:solidFill>
                  <a:srgbClr val="0E1726"/>
                </a:solidFill>
                <a:latin typeface="Calibri"/>
              </a:rPr>
              <a:t>pilot kecil → satu tim → seluruh organisasi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Pasang dashboard: sukses, latensi, biaya, dan error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Bangun </a:t>
            </a:r>
            <a:r>
              <a:rPr sz="1300" b="1">
                <a:solidFill>
                  <a:srgbClr val="0E1726"/>
                </a:solidFill>
                <a:latin typeface="Calibri"/>
              </a:rPr>
              <a:t>feedback loop</a:t>
            </a:r>
            <a:r>
              <a:rPr sz="1300" b="0">
                <a:solidFill>
                  <a:srgbClr val="333D51"/>
                </a:solidFill>
                <a:latin typeface="Calibri"/>
              </a:rPr>
              <a:t>: penilaian pengguna + koreksi mereka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1">
                <a:solidFill>
                  <a:srgbClr val="0E1726"/>
                </a:solidFill>
                <a:latin typeface="Calibri"/>
              </a:rPr>
              <a:t>Versioning</a:t>
            </a:r>
            <a:r>
              <a:rPr sz="1300" b="0">
                <a:solidFill>
                  <a:srgbClr val="333D51"/>
                </a:solidFill>
                <a:latin typeface="Calibri"/>
              </a:rPr>
              <a:t> prompt, konfigurasi, dan pengetahuan agent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300" b="0">
                <a:solidFill>
                  <a:srgbClr val="333D51"/>
                </a:solidFill>
                <a:latin typeface="Calibri"/>
              </a:rPr>
              <a:t>Siapkan </a:t>
            </a:r>
            <a:r>
              <a:rPr sz="1300" b="1">
                <a:solidFill>
                  <a:srgbClr val="0E1726"/>
                </a:solidFill>
                <a:latin typeface="Calibri"/>
              </a:rPr>
              <a:t>rencana rollback</a:t>
            </a:r>
            <a:r>
              <a:rPr sz="1300" b="0">
                <a:solidFill>
                  <a:srgbClr val="333D51"/>
                </a:solidFill>
                <a:latin typeface="Calibri"/>
              </a:rPr>
              <a:t> bila hasil memburuk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3027" y="1783080"/>
            <a:ext cx="4142867" cy="3794760"/>
          </a:xfrm>
          <a:prstGeom prst="roundRect">
            <a:avLst>
              <a:gd name="adj" fmla="val 5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3027" y="178308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3923" y="2057400"/>
            <a:ext cx="35210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RITME PERAWATAN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3923" y="2386584"/>
            <a:ext cx="352107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Harian: pantau error &amp; biaya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Mingguan: tinjau kasus gagal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Bulanan: audit akurasi &amp; akses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Quarterly: evaluasi ROI &amp; model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D5DCEC"/>
                </a:solidFill>
                <a:latin typeface="Calibri"/>
              </a:rPr>
              <a:t>Berkala: perbarui knowledge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4144"/>
            <a:ext cx="10820095" cy="548640"/>
          </a:xfrm>
          <a:prstGeom prst="roundRect">
            <a:avLst>
              <a:gd name="adj" fmla="val 16000"/>
            </a:avLst>
          </a:prstGeom>
          <a:solidFill>
            <a:srgbClr val="FFF7E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2714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7306"/>
                </a:solidFill>
                <a:latin typeface="Calibri"/>
              </a:rPr>
              <a:t>Tips:  </a:t>
            </a:r>
            <a:r>
              <a:rPr sz="1200" b="0" i="0">
                <a:solidFill>
                  <a:srgbClr val="5A4414"/>
                </a:solidFill>
                <a:latin typeface="Calibri"/>
              </a:rPr>
              <a:t>Jadwalkan pembaruan knowledge base — konteks yang basi adalah penyebab umum kegagalan.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PERALATAN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Tools &amp; Framework Populer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Pilih berdasarkan kebutuhan integrasi, keamanan, dan biaya — bukan tren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783080"/>
          <a:ext cx="10817352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5029200"/>
                <a:gridCol w="313639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Pilihan Umum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Cocok Untuk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Coding agent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OpenCode, Claude Code, Cursor, GitHub Copilot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Developer &amp; data task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OpenAI Agents SDK, Anthropic Agent SDK, LangGraph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Tim teknis membangun sendiri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Multi-agent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CrewAI, AutoGen, LangGraph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Alur butuh banyak peran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No-code / otomasi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n8n, Zapier Agents, Make, Copilot Studio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Tim non-teknis, cepat coba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Kolaborasi &amp; kantor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Microsoft 365 Copilot, Google Agentspace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Dokumen, email, meeting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Bisnis / CRM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Salesforce Agentforce, ServiceNow, HubSpot Breeze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Sales, support, IT service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4745736"/>
            <a:ext cx="2567863" cy="14173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965192"/>
            <a:ext cx="2092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726"/>
                </a:solidFill>
                <a:latin typeface="Calibri"/>
              </a:rPr>
              <a:t>Integrasi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" y="5276088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5458968"/>
            <a:ext cx="2092375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Apakah terhubung ke sistem yang tim Anda pakai sehari-hari?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6543" y="4745736"/>
            <a:ext cx="2567863" cy="14173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4287" y="4965192"/>
            <a:ext cx="2092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726"/>
                </a:solidFill>
                <a:latin typeface="Calibri"/>
              </a:rPr>
              <a:t>Keamanan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4287" y="5276088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4287" y="5458968"/>
            <a:ext cx="2092375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Kontrol akses, audit log, opsi data residency / on-prem.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4745736"/>
            <a:ext cx="2567863" cy="14173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4965192"/>
            <a:ext cx="2092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726"/>
                </a:solidFill>
                <a:latin typeface="Calibri"/>
              </a:rPr>
              <a:t>Biaya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5031" y="5276088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5031" y="5458968"/>
            <a:ext cx="2092375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Model per token, lisensi, dan biaya operasional per tugas.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8031" y="4745736"/>
            <a:ext cx="2567863" cy="14173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5775" y="4965192"/>
            <a:ext cx="2092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726"/>
                </a:solidFill>
                <a:latin typeface="Calibri"/>
              </a:rPr>
              <a:t>Kendali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75775" y="5276088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5775" y="5458968"/>
            <a:ext cx="2092375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Bisa evaluasi, versioning, dan rollback sendiri?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POLA DESAIN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Pola yang Sering Dipakai dalam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Pilih pola sesuai tingkat kerumitan, bukan selalu yang paling canggih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" y="231343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96312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Reasoning + acting bergantian: berpikir, bertindak, membaca hasil, berpikir lagi.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3300983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37559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Default untuk kebanyakan tugas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3938" y="1783080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1682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Plan &amp; Execute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1682" y="2313432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1682" y="2496312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Rencana lengkap disusun dulu, baru dieksekuti langkah demi langkah.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1682" y="3300983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9698" y="3337559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6B6D4"/>
                </a:solidFill>
                <a:latin typeface="Calibri"/>
              </a:rPr>
              <a:t>Tugas panjang &amp; terstruktur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2076" y="1783080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9820" y="2002536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Multi-agent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19820" y="2313432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9820" y="2496312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Router menugaskan spesialis: riset, penulisan, analisis, QA.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9820" y="3300983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7836" y="3337559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Pekerjaan kompleks &amp; beragam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123944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4343400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Human-in-the-loop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" y="4654296"/>
            <a:ext cx="420624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4837176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Agent berhenti di titik persetujuan sebelum aksi berisiko.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" y="5641847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678423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B981"/>
                </a:solidFill>
                <a:latin typeface="Calibri"/>
              </a:rPr>
              <a:t>Aksi tulis/eksternal penting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3938" y="4123944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1682" y="4343400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Reflection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21682" y="4654296"/>
            <a:ext cx="420624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1682" y="4837176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Agent menilai dan menyunting hasilnya sendiri sebelum dikirim.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1682" y="5641847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49698" y="5678423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Output yang butuh kualitas tinggi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2076" y="4123944"/>
            <a:ext cx="3423818" cy="2084831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9820" y="4343400"/>
            <a:ext cx="29483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1726"/>
                </a:solidFill>
                <a:latin typeface="Calibri"/>
              </a:rPr>
              <a:t>RAG + 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9820" y="4654296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9820" y="4837176"/>
            <a:ext cx="294833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Menarik pengetahuan relevan dari basis data perusahaan saat dibutuhkan.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9820" y="5641847"/>
            <a:ext cx="294833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7836" y="5678423"/>
            <a:ext cx="27837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46E5"/>
                </a:solidFill>
                <a:latin typeface="Calibri"/>
              </a:rPr>
              <a:t>Jawaban berbasis dokumen 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PRAKTIK TERBAIK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8 Prinsip yang Tidak Boleh Dilewatkan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Dari pengalaman implementasi di dunia nyata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00253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Mulai kecil, skala bertahap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" y="2569464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75234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Bukti nilai lebih dulu, baru perluas. Hindari proyek 'transformasi total' di awal.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6543" y="178308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4287" y="200253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Manusia tetap di kursi kemudi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4287" y="2569464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4287" y="275234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Aksi berisiko selalu butuh persetujuan, terutama yang bersifat eksternal atau finansial.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178308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5031" y="200253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Konteks &gt; prompt panjang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5031" y="2569464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5031" y="275234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Rapikan data dan knowledge base. Kualitas input menentukan kualitas hasil.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8031" y="178308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5775" y="200253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Instrumentasi sejak hari pertama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75775" y="2569464"/>
            <a:ext cx="420624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5775" y="275234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Log, metrik, dan biaya dipantau sejak pilot agar keputusan berbasis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6052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37997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Versioning prompt &amp; konfigurasi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" y="4946904"/>
            <a:ext cx="420624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12978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Perlakukan prompt seperti kode: review, uji regresi, dan riwayat perubahan.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6543" y="416052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4287" y="437997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Libatkan tim pendukung sejak awal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4287" y="4946904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4287" y="512978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Security, legal, dan data owner terlibat di muka - lebih murah mencegah daripada memperbaiki.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416052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5031" y="437997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Batasi akses (least privilege)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25031" y="4946904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5031" y="512978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Agent hanya memegang izin minimum yang diperlukan untuk tugasnya.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8031" y="4160520"/>
            <a:ext cx="2567863" cy="210312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5775" y="4379976"/>
            <a:ext cx="20923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726"/>
                </a:solidFill>
                <a:latin typeface="Calibri"/>
              </a:rPr>
              <a:t>Latih orang, bukan hanya tool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75775" y="4946904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5775" y="5129784"/>
            <a:ext cx="2092375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4E63"/>
                </a:solidFill>
                <a:latin typeface="Calibri"/>
              </a:rPr>
              <a:t>Agent mengubah cara kerja. Tanpa pelatihan, adopsi dan manfaatnya mandek.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TATA KELOLA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Risiko &amp; Cara Mitigasinya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Waspadai sejak awal agar kepercayaan tidak hilang di tengah jalan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19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783080"/>
          <a:ext cx="10817352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4114800"/>
                <a:gridCol w="409651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Risiko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Dampak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Mitigasi</a:t>
                      </a:r>
                    </a:p>
                  </a:txBody>
                  <a:tcPr anchor="ctr" marL="118872" marR="118872" marT="45720" marB="45720">
                    <a:solidFill>
                      <a:srgbClr val="101A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Halusinasi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Informasi keliru dikira fakta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RAG, validasi skema output, evaluasi rutin, wajib verifikasi sumber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Kebocoran data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Data sensitif keluar dari lingkungan aman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Masking data, kontrol akses, pilihan model/private deployment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Izin berlebihan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Agent menulis/menghapus di luar wewenang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Least privilege, mulai read-only, approval untuk aksi tulis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Prompt injection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Instruksi jahat membelokkan agent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Isolasi konteks teks eksternal, filter input, batasi tool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Shadow AI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Alat tak resmi dipakai tanpa pengawasan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Kebijakan &amp; daftar tool resmi, pelatihan, opsi aman yang mudah</a:t>
                      </a:r>
                    </a:p>
                  </a:txBody>
                  <a:tcPr anchor="ctr" marL="118872" marR="118872" marT="45720" marB="4572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0E1726"/>
                          </a:solidFill>
                          <a:latin typeface="Calibri"/>
                        </a:rPr>
                        <a:t>Ketergantungan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Keterampilan &amp; kontrol manusia menurun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444E63"/>
                          </a:solidFill>
                          <a:latin typeface="Calibri"/>
                        </a:rPr>
                        <a:t>Dokumentasi proses, pelatihan, manusia tetap pengambil keputusan</a:t>
                      </a:r>
                    </a:p>
                  </a:txBody>
                  <a:tcPr anchor="ctr" marL="118872" marR="118872" marT="45720" marB="45720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5495544"/>
            <a:ext cx="10820095" cy="566928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50408"/>
            <a:ext cx="102714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F4444"/>
                </a:solidFill>
                <a:latin typeface="Calibri"/>
              </a:rPr>
              <a:t>Prinsip utama:  </a:t>
            </a:r>
            <a:r>
              <a:rPr sz="1250" b="0" i="0">
                <a:solidFill>
                  <a:srgbClr val="5A1A1A"/>
                </a:solidFill>
                <a:latin typeface="Calibri"/>
              </a:rPr>
              <a:t>otonomi diberikan bertahap seiring bukti keandalan — bukan sebaliknya. Mulai dengan mengawasi, baru kurangi pengawasan.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STUDI KASUS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Laporan Mingguan Otomatis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Contoh nyata penerapan agent pada pekerjaan berulang tim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50027" cy="1234440"/>
          </a:xfrm>
          <a:prstGeom prst="roundRect">
            <a:avLst>
              <a:gd name="adj" fmla="val 8000"/>
            </a:avLst>
          </a:prstGeom>
          <a:solidFill>
            <a:srgbClr val="F9FAFC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701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67085"/>
                </a:solidFill>
                <a:latin typeface="Calibri"/>
              </a:rPr>
              <a:t>SEBELUM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95144"/>
            <a:ext cx="4701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6708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±4 jam/minggu untuk </a:t>
            </a:r>
            <a:r>
              <a:rPr sz="1150" b="1">
                <a:solidFill>
                  <a:srgbClr val="0E1726"/>
                </a:solidFill>
                <a:latin typeface="Calibri"/>
              </a:rPr>
              <a:t>copy-paste</a:t>
            </a:r>
            <a:r>
              <a:rPr sz="1150" b="0">
                <a:solidFill>
                  <a:srgbClr val="333D51"/>
                </a:solidFill>
                <a:latin typeface="Calibri"/>
              </a:rPr>
              <a:t> dari 3 sistem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6708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Rawan salah ketik &amp; data basi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67085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Insight datang terlambat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783080"/>
            <a:ext cx="5250027" cy="1234440"/>
          </a:xfrm>
          <a:prstGeom prst="roundRect">
            <a:avLst>
              <a:gd name="adj" fmla="val 8000"/>
            </a:avLst>
          </a:prstGeom>
          <a:solidFill>
            <a:srgbClr val="ECFBF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965960"/>
            <a:ext cx="4701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SESUDAH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295144"/>
            <a:ext cx="47013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150" b="1">
                <a:solidFill>
                  <a:srgbClr val="0E1726"/>
                </a:solidFill>
                <a:latin typeface="Calibri"/>
              </a:rPr>
              <a:t>20 menit</a:t>
            </a:r>
            <a:r>
              <a:rPr sz="1150" b="0">
                <a:solidFill>
                  <a:srgbClr val="333D51"/>
                </a:solidFill>
                <a:latin typeface="Calibri"/>
              </a:rPr>
              <a:t> review &amp; approve oleh lead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Anomali terdeteksi otomatis (deviasi &gt;10%)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0B981"/>
                </a:solidFill>
                <a:latin typeface="Calibri"/>
              </a:rPr>
              <a:t>•    </a:t>
            </a:r>
            <a:r>
              <a:rPr sz="1150" b="0">
                <a:solidFill>
                  <a:srgbClr val="333D51"/>
                </a:solidFill>
                <a:latin typeface="Calibri"/>
              </a:rPr>
              <a:t>Kirim tepat waktu, setiap Jumat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64408"/>
            <a:ext cx="1973823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264408"/>
            <a:ext cx="1973823" cy="731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38728"/>
            <a:ext cx="1571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726"/>
                </a:solidFill>
                <a:latin typeface="Calibri"/>
              </a:rPr>
              <a:t>Jumat 16.00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886200"/>
            <a:ext cx="1571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Agent menarik data dari CRM, Analytics, dan Tiket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1335" y="39502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7367" y="3264408"/>
            <a:ext cx="1973823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97367" y="3264408"/>
            <a:ext cx="1973823" cy="73152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8535" y="3538728"/>
            <a:ext cx="1571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726"/>
                </a:solidFill>
                <a:latin typeface="Calibri"/>
              </a:rPr>
              <a:t>Analisis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8535" y="3886200"/>
            <a:ext cx="1571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Bandingkan target vs realisasi, deteksi anomali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2903" y="39502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8935" y="3264408"/>
            <a:ext cx="1973823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08935" y="3264408"/>
            <a:ext cx="1973823" cy="73152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0103" y="3538728"/>
            <a:ext cx="1571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726"/>
                </a:solidFill>
                <a:latin typeface="Calibri"/>
              </a:rPr>
              <a:t>Draf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103" y="3886200"/>
            <a:ext cx="1571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Susun laporan + 3 rekomendasi prioritas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4471" y="39502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0503" y="3264408"/>
            <a:ext cx="1973823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20503" y="3264408"/>
            <a:ext cx="1973823" cy="7315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1671" y="3538728"/>
            <a:ext cx="1571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726"/>
                </a:solidFill>
                <a:latin typeface="Calibri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1671" y="3886200"/>
            <a:ext cx="1571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Kirim ke Slack; lead menyetujui/mengedit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6039" y="39502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7085"/>
                </a:solidFill>
                <a:latin typeface="Calibr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32071" y="3264408"/>
            <a:ext cx="1973823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32071" y="3264408"/>
            <a:ext cx="1973823" cy="731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3239" y="3538728"/>
            <a:ext cx="1571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726"/>
                </a:solidFill>
                <a:latin typeface="Calibri"/>
              </a:rPr>
              <a:t>Arsip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3239" y="3886200"/>
            <a:ext cx="15714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E63"/>
                </a:solidFill>
                <a:latin typeface="Calibri"/>
              </a:rPr>
              <a:t>Simpan ke Notion + catat metrik penggunaan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111496"/>
            <a:ext cx="2567863" cy="868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230368"/>
            <a:ext cx="220210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F46E5"/>
                </a:solidFill>
                <a:latin typeface="Calibri"/>
              </a:rPr>
              <a:t>70%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41848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waktu kerja berkurang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36543" y="5111496"/>
            <a:ext cx="2567863" cy="868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9423" y="5230368"/>
            <a:ext cx="220210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6B6D4"/>
                </a:solidFill>
                <a:latin typeface="Calibri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9423" y="5641848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laporan terlambat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7287" y="5111496"/>
            <a:ext cx="2567863" cy="868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0167" y="5230368"/>
            <a:ext cx="220210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9E0B"/>
                </a:solidFill>
                <a:latin typeface="Calibri"/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0167" y="5641848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diperiksa manusia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38031" y="5111496"/>
            <a:ext cx="2567863" cy="86868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0911" y="5230368"/>
            <a:ext cx="220210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B981"/>
                </a:solidFill>
                <a:latin typeface="Calibri"/>
              </a:rPr>
              <a:t>3 jam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0911" y="5641848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alibri"/>
              </a:rPr>
              <a:t>hemat per orang/minggu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RENCANA 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Roadmap 30-60-90 Hari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Tiga fase: bukti nilai → kematangan → skala dan ROI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342381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3423818" cy="777240"/>
          </a:xfrm>
          <a:prstGeom prst="roundRect">
            <a:avLst>
              <a:gd name="adj" fmla="val 13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240280"/>
            <a:ext cx="3423818" cy="3200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911095"/>
            <a:ext cx="28751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30 HARI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0F2FF"/>
                </a:solidFill>
                <a:latin typeface="Calibri"/>
              </a:rPr>
              <a:t>Fondasi &amp;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70632"/>
            <a:ext cx="287517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Pilih 1–2 use case quick win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Petakan proses &amp; sumber data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Siapkan baseline metrik (waktu, kualitas, biaya)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Tetapkan kebijakan penggunaan &amp; akses data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Jalankan pilot terbatas pada 1 tim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3938" y="1783080"/>
            <a:ext cx="342381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3938" y="1783080"/>
            <a:ext cx="3423818" cy="777240"/>
          </a:xfrm>
          <a:prstGeom prst="roundRect">
            <a:avLst>
              <a:gd name="adj" fmla="val 13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3938" y="2240280"/>
            <a:ext cx="3423818" cy="320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8258" y="1911095"/>
            <a:ext cx="28751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60 HARI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0F2FF"/>
                </a:solidFill>
                <a:latin typeface="Calibri"/>
              </a:rPr>
              <a:t>Integrasi &amp; Evaluasi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8258" y="2770632"/>
            <a:ext cx="287517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Sambungkan tools inti (read → write + approval)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Bangun golden dataset &amp; evaluasi otomatis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Latih 1 tim lengkap + runbook operasional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Pasang logging, dashboard, dan peringatan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Perbaiki prompt berdasarkan kasus gagal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2076" y="1783080"/>
            <a:ext cx="342381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2076" y="1783080"/>
            <a:ext cx="3423818" cy="777240"/>
          </a:xfrm>
          <a:prstGeom prst="roundRect">
            <a:avLst>
              <a:gd name="adj" fmla="val 13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2076" y="2240280"/>
            <a:ext cx="3423818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6396" y="1911095"/>
            <a:ext cx="28751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90 HARI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0F2FF"/>
                </a:solidFill>
                <a:latin typeface="Calibri"/>
              </a:rPr>
              <a:t>Skala &amp;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396" y="2770632"/>
            <a:ext cx="287517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Perluas ke 3–5 use case lintas fungsi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Tetapkan pemilik agent &amp; ritme perawatan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Hitung ROI: jam hemat vs biaya operasional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Bentuk komunitas praktik / center of excellence</a:t>
            </a:r>
          </a:p>
          <a:p>
            <a:pPr marL="237744" indent="-237744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•    </a:t>
            </a:r>
            <a:r>
              <a:rPr sz="1250" b="0">
                <a:solidFill>
                  <a:srgbClr val="333D51"/>
                </a:solidFill>
                <a:latin typeface="Calibri"/>
              </a:rPr>
              <a:t>Susun rencana tahun berikutnya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9184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46E5"/>
                </a:solidFill>
                <a:latin typeface="Calibri"/>
              </a:rPr>
              <a:t>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6928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E1726"/>
                </a:solidFill>
                <a:latin typeface="Calibri"/>
              </a:rPr>
              <a:t>Kesimpulan &amp; Langkah Berikutnya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0515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Calibri"/>
              </a:rPr>
              <a:t>Empat hal yang perlu diingat setelah sesi 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73368"/>
            <a:ext cx="10820095" cy="12801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alibri"/>
              </a:rPr>
              <a:t>AI Agent untuk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556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Calibri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5227167" cy="146304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002536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Agent mengerjakan, bukan sekadar menjawab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" y="2313432"/>
            <a:ext cx="420624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496312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Nilainya ada pada tugas yang selesai — bukan pada jawaban yang terdengar pintar.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783080"/>
            <a:ext cx="5227167" cy="146304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471" y="2002536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Kunci: use case, data, guardrail, ukuran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6471" y="2313432"/>
            <a:ext cx="420624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6471" y="2496312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Empat hal ini menentukan sukses atau gagalnya jauh lebih besar daripada pilihan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5227167" cy="146304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739896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Mulai kecil, ukur, lalu skalakan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" y="4050791"/>
            <a:ext cx="420624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233672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Quick win membangun kepercayaan; metrik membenarkan investasi berikutnya.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520440"/>
            <a:ext cx="5227167" cy="1463040"/>
          </a:xfrm>
          <a:prstGeom prst="roundRect">
            <a:avLst>
              <a:gd name="adj" fmla="val 5500"/>
            </a:avLst>
          </a:prstGeom>
          <a:solidFill>
            <a:srgbClr val="F4F6FB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6471" y="3739896"/>
            <a:ext cx="4751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726"/>
                </a:solidFill>
                <a:latin typeface="Calibri"/>
              </a:rPr>
              <a:t>Manusia tetap pengambil keputusan akhir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6471" y="4050791"/>
            <a:ext cx="420624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6471" y="4233672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E63"/>
                </a:solidFill>
                <a:latin typeface="Calibri"/>
              </a:rPr>
              <a:t>Otonomi diberikan bertahap seiring bukti keandalan, bukan sebaliknya.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66360"/>
            <a:ext cx="10820095" cy="1097280"/>
          </a:xfrm>
          <a:prstGeom prst="roundRect">
            <a:avLst>
              <a:gd name="adj" fmla="val 7000"/>
            </a:avLst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166360"/>
            <a:ext cx="82296" cy="1097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5349240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MULAI MINGGU 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5669280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1.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Tuliskan 3 tugas paling menyakitkan di tim Anda.   </a:t>
            </a:r>
            <a:r>
              <a:rPr sz="1400" b="1" i="0">
                <a:solidFill>
                  <a:srgbClr val="F59E0B"/>
                </a:solidFill>
                <a:latin typeface="Calibri"/>
              </a:rPr>
              <a:t>2.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Pilih satu yang paling mudah diukur.   </a:t>
            </a:r>
            <a:r>
              <a:rPr sz="1400" b="1" i="0">
                <a:solidFill>
                  <a:srgbClr val="F59E0B"/>
                </a:solidFill>
                <a:latin typeface="Calibri"/>
              </a:rPr>
              <a:t>3.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Jalankan pilot 2 minggu dan bandingkan dengan baseline hari ini.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292608" cy="2286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18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2560320" cy="6400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2651760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3291840"/>
            <a:ext cx="2560320" cy="457200"/>
          </a:xfrm>
          <a:prstGeom prst="roundRect">
            <a:avLst>
              <a:gd name="adj" fmla="val 30000"/>
            </a:avLst>
          </a:prstGeom>
          <a:solidFill>
            <a:srgbClr val="2A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393192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0" y="429768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TERIMA KASIH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Pertanyaan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59E0B"/>
                </a:solidFill>
                <a:latin typeface="Calibri"/>
              </a:rPr>
              <a:t>Diskusi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146304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2D6"/>
                </a:solidFill>
                <a:latin typeface="Calibri"/>
              </a:rPr>
              <a:t>Mari tentukan satu use case yang akan kita coba dalam dua minggu ke depan.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Calibri"/>
              </a:rPr>
              <a:t>Sesi tanya jawab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 Menggunakan AI Agent untuk Pekerjaan</dc:title>
  <dc:subject>Panduan praktis implementasi AI agent di tempat kerja</dc:subject>
  <dc:creator>AI Assistant</dc:creator>
  <cp:keywords>AI agent, produktivitas, otomasi, implementasi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